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ahnschrift" panose="020B0502040204020203" pitchFamily="34" charset="0"/>
      <p:regular r:id="rId14"/>
      <p:bold r:id="rId15"/>
    </p:embeddedFont>
    <p:embeddedFont>
      <p:font typeface="Cascadia Code" panose="020B0609020000020004" pitchFamily="49" charset="0"/>
      <p:regular r:id="rId16"/>
      <p:bold r:id="rId17"/>
      <p:italic r:id="rId18"/>
      <p:boldItalic r:id="rId19"/>
    </p:embeddedFont>
    <p:embeddedFont>
      <p:font typeface="Raleway Medium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20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07236" y="1582936"/>
            <a:ext cx="741592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Autonomous Hemispherical Spatial Mapping &amp; Target Detection</a:t>
            </a:r>
            <a:endParaRPr lang="en-US" sz="4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18233" y="4742616"/>
            <a:ext cx="77939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A Robust Time-of-Flight (ToF) Approach for Static Target Localization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607236" y="574095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Bahnschrift" panose="020B0502040204020203" pitchFamily="34" charset="0"/>
              </a:rPr>
              <a:t>Team </a:t>
            </a:r>
            <a:r>
              <a:rPr lang="en-US" sz="2000" dirty="0" err="1">
                <a:solidFill>
                  <a:srgbClr val="D7D4CC"/>
                </a:solidFill>
                <a:latin typeface="Bahnschrift" panose="020B0502040204020203" pitchFamily="34" charset="0"/>
              </a:rPr>
              <a:t>RoboWizards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07234" y="644913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Bahnschrift" panose="020B0502040204020203" pitchFamily="34" charset="0"/>
              </a:rPr>
              <a:t>R Sabarish	Mandar Patil	Rijul MK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720BC7-CAD6-3F4A-435D-D15F1D48A364}"/>
              </a:ext>
            </a:extLst>
          </p:cNvPr>
          <p:cNvSpPr/>
          <p:nvPr/>
        </p:nvSpPr>
        <p:spPr>
          <a:xfrm>
            <a:off x="12892216" y="0"/>
            <a:ext cx="1738184" cy="8229600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96492" y="853492"/>
            <a:ext cx="8076128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Problem Understanding: The Challenge Ahead</a:t>
            </a:r>
            <a:endParaRPr lang="en-US" sz="2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382524" y="1809096"/>
            <a:ext cx="8096012" cy="866894"/>
          </a:xfrm>
          <a:prstGeom prst="roundRect">
            <a:avLst>
              <a:gd name="adj" fmla="val 8438"/>
            </a:avLst>
          </a:prstGeom>
          <a:solidFill>
            <a:srgbClr val="27272B"/>
          </a:solidFill>
          <a:ln w="15240">
            <a:solidFill>
              <a:srgbClr val="5F5F6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67284" y="1809096"/>
            <a:ext cx="60960" cy="866894"/>
          </a:xfrm>
          <a:prstGeom prst="roundRect">
            <a:avLst>
              <a:gd name="adj" fmla="val 368388"/>
            </a:avLst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3593146" y="1973997"/>
            <a:ext cx="3024307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Stationary 2-DoF Scanning System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593146" y="2271653"/>
            <a:ext cx="7720489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Design a fixed system capable of precise spatial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2524" y="2825651"/>
            <a:ext cx="8096012" cy="866894"/>
          </a:xfrm>
          <a:prstGeom prst="roundRect">
            <a:avLst>
              <a:gd name="adj" fmla="val 8438"/>
            </a:avLst>
          </a:prstGeom>
          <a:solidFill>
            <a:srgbClr val="27272B"/>
          </a:solidFill>
          <a:ln w="15240">
            <a:solidFill>
              <a:srgbClr val="5F5F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7284" y="2825651"/>
            <a:ext cx="60960" cy="866894"/>
          </a:xfrm>
          <a:prstGeom prst="roundRect">
            <a:avLst>
              <a:gd name="adj" fmla="val 368388"/>
            </a:avLst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3593146" y="2990553"/>
            <a:ext cx="2105978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Hemispherical Mapping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93146" y="3288209"/>
            <a:ext cx="7720489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Map the upper hemisphere of a closed enclosure with accuracy.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2524" y="3842207"/>
            <a:ext cx="8096012" cy="866894"/>
          </a:xfrm>
          <a:prstGeom prst="roundRect">
            <a:avLst>
              <a:gd name="adj" fmla="val 8438"/>
            </a:avLst>
          </a:prstGeom>
          <a:solidFill>
            <a:srgbClr val="27272B"/>
          </a:solidFill>
          <a:ln w="15240">
            <a:solidFill>
              <a:srgbClr val="5F5F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7284" y="3842207"/>
            <a:ext cx="60960" cy="866894"/>
          </a:xfrm>
          <a:prstGeom prst="roundRect">
            <a:avLst>
              <a:gd name="adj" fmla="val 368388"/>
            </a:avLst>
          </a:prstGeom>
          <a:solidFill>
            <a:srgbClr val="FFE14D"/>
          </a:solidFill>
          <a:ln/>
        </p:spPr>
      </p:sp>
      <p:sp>
        <p:nvSpPr>
          <p:cNvPr id="14" name="Text 11"/>
          <p:cNvSpPr/>
          <p:nvPr/>
        </p:nvSpPr>
        <p:spPr>
          <a:xfrm>
            <a:off x="3593146" y="4007108"/>
            <a:ext cx="2601158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Autonomous Target Detection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93146" y="4304765"/>
            <a:ext cx="7720489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Reliably detect and count static targets without human intervention.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382524" y="4877455"/>
            <a:ext cx="3973116" cy="1075849"/>
          </a:xfrm>
          <a:prstGeom prst="roundRect">
            <a:avLst>
              <a:gd name="adj" fmla="val 33398"/>
            </a:avLst>
          </a:prstGeom>
          <a:solidFill>
            <a:srgbClr val="46464A"/>
          </a:solidFill>
          <a:ln/>
        </p:spPr>
      </p:sp>
      <p:sp>
        <p:nvSpPr>
          <p:cNvPr id="17" name="Text 14"/>
          <p:cNvSpPr/>
          <p:nvPr/>
        </p:nvSpPr>
        <p:spPr>
          <a:xfrm>
            <a:off x="3532186" y="5027117"/>
            <a:ext cx="2018347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ToF Sensing Constraint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532186" y="5324773"/>
            <a:ext cx="367379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Exclusively utilize Time-of-Flight technology.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505301" y="4877455"/>
            <a:ext cx="3973235" cy="1075849"/>
          </a:xfrm>
          <a:prstGeom prst="roundRect">
            <a:avLst>
              <a:gd name="adj" fmla="val 33398"/>
            </a:avLst>
          </a:prstGeom>
          <a:solidFill>
            <a:srgbClr val="46464A"/>
          </a:solidFill>
          <a:ln/>
        </p:spPr>
      </p:sp>
      <p:sp>
        <p:nvSpPr>
          <p:cNvPr id="20" name="Text 17"/>
          <p:cNvSpPr/>
          <p:nvPr/>
        </p:nvSpPr>
        <p:spPr>
          <a:xfrm>
            <a:off x="7654963" y="5027117"/>
            <a:ext cx="1784628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No Double-Counting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54963" y="5324773"/>
            <a:ext cx="3673912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Implement robust algorithms to prevent redundant target identification.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382524" y="6102966"/>
            <a:ext cx="8096012" cy="836414"/>
          </a:xfrm>
          <a:prstGeom prst="roundRect">
            <a:avLst>
              <a:gd name="adj" fmla="val 42959"/>
            </a:avLst>
          </a:prstGeom>
          <a:solidFill>
            <a:srgbClr val="46464A"/>
          </a:solidFill>
          <a:ln/>
        </p:spPr>
      </p:sp>
      <p:sp>
        <p:nvSpPr>
          <p:cNvPr id="23" name="Text 20"/>
          <p:cNvSpPr/>
          <p:nvPr/>
        </p:nvSpPr>
        <p:spPr>
          <a:xfrm>
            <a:off x="3532186" y="6252627"/>
            <a:ext cx="1718310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Cuboidal Enclosure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532186" y="6550283"/>
            <a:ext cx="7796689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Adapt to varying wall distances within a constrained environment.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5677CA-BCB7-B91A-881F-CD3F22F0805B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72902" y="1213961"/>
            <a:ext cx="7970996" cy="9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System Architecture: A Synergy of Components</a:t>
            </a:r>
            <a:endParaRPr lang="en-US" sz="2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902" y="2396371"/>
            <a:ext cx="837843" cy="12045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8266" y="2563892"/>
            <a:ext cx="310657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The Master: Laptop (Windows)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078266" y="2897148"/>
            <a:ext cx="6965633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Responsible for processing: mapping, filtering, and 3D visualization. 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902" y="3600926"/>
            <a:ext cx="837843" cy="10054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78266" y="3768447"/>
            <a:ext cx="2390656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The Slave: Arduino Nano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078266" y="4101703"/>
            <a:ext cx="696563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embedded control unit, driving motors and precisely triggering sensor readings.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902" y="4606409"/>
            <a:ext cx="837843" cy="12045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78266" y="4773930"/>
            <a:ext cx="2443163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The Sensor: VL53L0X ToF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078266" y="5107186"/>
            <a:ext cx="6965633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Provides precision distance measurements with millimeter accuracy, forming the backbone of our spatial data.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902" y="5810964"/>
            <a:ext cx="837843" cy="120455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78266" y="5978485"/>
            <a:ext cx="423076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The Mechanism: 2-DoF Pan-Tilt Servo Turret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078266" y="6311741"/>
            <a:ext cx="6965633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Enables comprehensive hemispherical scanning with </a:t>
            </a: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Azimuth: 0°-180°</a:t>
            </a: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and </a:t>
            </a: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Elevation: 0°-180°</a:t>
            </a: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for full front and back coverage.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8A0A1E-A926-C798-DDA8-DBC39D85F7E6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5116" y="438269"/>
            <a:ext cx="5717619" cy="44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Methodology: The Power of ToF</a:t>
            </a:r>
            <a:endParaRPr lang="en-US" sz="2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835116" y="1279208"/>
            <a:ext cx="319635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Pivot from Vision to Active Sensing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35116" y="1772092"/>
            <a:ext cx="4285655" cy="102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ToF is Lighting Independent: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Our Time-of-Flight sensor operates flawlessly in complete darkness or bright ambient light, ensuring consistent performance.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35116" y="2847941"/>
            <a:ext cx="4285655" cy="7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Direct Depth Data: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Eliminates the need for complex stereo-vision computations, providing immediate physical coordinates for objects in space.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835116" y="4472080"/>
            <a:ext cx="2537579" cy="234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Efficient Scanning Strategy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835116" y="4923371"/>
            <a:ext cx="8960168" cy="54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Zig-Zag Raster Scan: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An optimized path planning approach (Left→→Left) ensures efficient data acquisition across the scanning area.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835116" y="5481312"/>
            <a:ext cx="8960168" cy="81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Full Coverage with 180° Tilt: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By utilizing the full 0-180° tilt range, the system scans both the front and back hemispheres, achieving comprehensive coverage without a 360° motor. Imagine the camera looking forward (0-90) and then doing a "backflip" (90-180) to scan behind.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5BFAEA-F8FC-8306-851C-B06C3148643D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67187" y="805117"/>
            <a:ext cx="8072676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Algorithm Phase 1: Robust Mapping with Background Subtraction</a:t>
            </a:r>
            <a:endParaRPr lang="en-US" sz="2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67187" y="1818100"/>
            <a:ext cx="807267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D7D4CC"/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Addressing the "Cuboid" Problem.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567187" y="2209221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Comfortaa Light" pitchFamily="34" charset="-122"/>
                <a:cs typeface="Arial" panose="020B0604020202020204" pitchFamily="34" charset="0"/>
              </a:rPr>
              <a:t>01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567187" y="2437940"/>
            <a:ext cx="8072676" cy="1524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7" name="Text 4"/>
          <p:cNvSpPr/>
          <p:nvPr/>
        </p:nvSpPr>
        <p:spPr>
          <a:xfrm>
            <a:off x="3567187" y="2540095"/>
            <a:ext cx="3435191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The Challenge: Simple Thresholding Fails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567187" y="2825607"/>
            <a:ext cx="8072676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Traditional depth thresholding proves inadequate as cuboid corners are inherently farther than wall centers, leading to inaccurate target identification.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67187" y="3536053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Comfortaa Light" pitchFamily="34" charset="-122"/>
                <a:cs typeface="Arial" panose="020B0604020202020204" pitchFamily="34" charset="0"/>
              </a:rPr>
              <a:t>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67187" y="3764772"/>
            <a:ext cx="8072676" cy="1524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1" name="Text 8"/>
          <p:cNvSpPr/>
          <p:nvPr/>
        </p:nvSpPr>
        <p:spPr>
          <a:xfrm>
            <a:off x="3567187" y="3866928"/>
            <a:ext cx="335851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Step 1: Calibration - Baseline Depth Map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67187" y="4152440"/>
            <a:ext cx="807267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An initial scan of the empty room creates a comprehensive baseline depth map, establishing the reference environment.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67187" y="4633214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Comfortaa Light" pitchFamily="34" charset="-122"/>
                <a:cs typeface="Arial" panose="020B0604020202020204" pitchFamily="34" charset="0"/>
              </a:rPr>
              <a:t>03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567187" y="4861933"/>
            <a:ext cx="8072676" cy="1524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5" name="Text 12"/>
          <p:cNvSpPr/>
          <p:nvPr/>
        </p:nvSpPr>
        <p:spPr>
          <a:xfrm>
            <a:off x="3567187" y="4964089"/>
            <a:ext cx="226528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Step 2: Differential Analysis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67187" y="5249601"/>
            <a:ext cx="807267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By comparing real-time scans against the baseline, we isolate new objects by identifying significant depth deviations.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567187" y="5730375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Comfortaa Light" pitchFamily="34" charset="-122"/>
                <a:cs typeface="Arial" panose="020B0604020202020204" pitchFamily="34" charset="0"/>
              </a:rPr>
              <a:t>04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567187" y="5959094"/>
            <a:ext cx="8072676" cy="1524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9" name="Text 16"/>
          <p:cNvSpPr/>
          <p:nvPr/>
        </p:nvSpPr>
        <p:spPr>
          <a:xfrm>
            <a:off x="3567187" y="6061250"/>
            <a:ext cx="381714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Result: Ignored Geometry, Highlighted Targets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567187" y="6346762"/>
            <a:ext cx="8072676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The system effectively filters out the room's geometry, focusing solely on "new" mass, thus highlighting potential targets with high precision.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6DB442-80FC-8D8E-2757-636432E8E75A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27061" y="274915"/>
            <a:ext cx="7959804" cy="93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Algorithm Phase 2: Signal Processing for Clarity</a:t>
            </a:r>
            <a:endParaRPr lang="en-US" sz="29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327061" y="1720412"/>
            <a:ext cx="3200400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Noise Reduction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327061" y="2124510"/>
            <a:ext cx="3773567" cy="108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Multi-Sampling: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The Arduino acquires three readings per data point and averages them, effectively mitigating sensor jitter and improving data accuracy.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327061" y="3183493"/>
            <a:ext cx="3773567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855" y="1720412"/>
            <a:ext cx="3773567" cy="37735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DFAC24-81E4-78F0-F81A-C87AEEA670A8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445" y="1161693"/>
            <a:ext cx="8119110" cy="81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Algorithm Phase 3: Clustering &amp; Counting for Precision</a:t>
            </a:r>
            <a:endParaRPr lang="en-US" sz="25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12445" y="2194679"/>
            <a:ext cx="585668" cy="878443"/>
          </a:xfrm>
          <a:prstGeom prst="roundRect">
            <a:avLst>
              <a:gd name="adj" fmla="val 360019"/>
            </a:avLst>
          </a:prstGeom>
          <a:solidFill>
            <a:srgbClr val="46464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444" y="2524006"/>
            <a:ext cx="219551" cy="2195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4441" y="2341007"/>
            <a:ext cx="1626870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Masking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244441" y="2631996"/>
            <a:ext cx="7387114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Generates a binary map, precisely outlining all valid target points within the scanned environment.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12445" y="3219450"/>
            <a:ext cx="585668" cy="1052274"/>
          </a:xfrm>
          <a:prstGeom prst="roundRect">
            <a:avLst>
              <a:gd name="adj" fmla="val 360019"/>
            </a:avLst>
          </a:prstGeom>
          <a:solidFill>
            <a:srgbClr val="46464A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444" y="3635693"/>
            <a:ext cx="219551" cy="2195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4441" y="3365778"/>
            <a:ext cx="1938576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Morphological Closing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244441" y="3656767"/>
            <a:ext cx="738711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Effectively "glues" fragmented nearby points, filling any gaps where the laser might have missed, ensuring complete object representation.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12445" y="4418052"/>
            <a:ext cx="585668" cy="1052274"/>
          </a:xfrm>
          <a:prstGeom prst="roundRect">
            <a:avLst>
              <a:gd name="adj" fmla="val 360019"/>
            </a:avLst>
          </a:prstGeom>
          <a:solidFill>
            <a:srgbClr val="46464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444" y="4834295"/>
            <a:ext cx="219551" cy="2195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4441" y="4564380"/>
            <a:ext cx="1626870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Contour Detection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244441" y="4855369"/>
            <a:ext cx="738711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Identifies and counts distinct "blobs" in the 2D map, representing individual target objects and preventing overcounting.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12445" y="5616654"/>
            <a:ext cx="585668" cy="1052274"/>
          </a:xfrm>
          <a:prstGeom prst="roundRect">
            <a:avLst>
              <a:gd name="adj" fmla="val 360019"/>
            </a:avLst>
          </a:prstGeom>
          <a:solidFill>
            <a:srgbClr val="46464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5444" y="6032897"/>
            <a:ext cx="219551" cy="21955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44441" y="5762982"/>
            <a:ext cx="1761411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Centroid Calculation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1244441" y="6053971"/>
            <a:ext cx="738711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Computes the mathematical 3D center of each target's point cloud, providing precise localization by calculating its centroid.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995C79-A206-F7B1-8979-BB8947E006F7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93311" y="775216"/>
            <a:ext cx="7451884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3D Visualization: Real-time Spatial Awareness</a:t>
            </a:r>
            <a:endParaRPr lang="en-US" sz="4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293311" y="2722484"/>
            <a:ext cx="3431024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Key Features of the 3D Map: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293311" y="3393996"/>
            <a:ext cx="3431024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Gray Points: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Represent the reconstructed enclosure, providing spatial context derived from calibration data.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93311" y="5183254"/>
            <a:ext cx="3431024" cy="154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Red Points: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Highlight the detected target clusters, showing the presence and shape of identified objects.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21791" y="2698314"/>
            <a:ext cx="3431024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Black Stars: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Mark the computed centroids of the targets, indicating the precise mathematical center of each object.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21791" y="4716423"/>
            <a:ext cx="3431024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Outcome:</a:t>
            </a: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 A fully interactive 3D Spatial Map, generated.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E6DB0-D3BD-22AB-B417-5B054A7D8C7F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4828" y="1280821"/>
            <a:ext cx="880074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Challenges &amp; Robust Solutions</a:t>
            </a:r>
            <a:endParaRPr lang="en-US" sz="4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48797" y="3068187"/>
            <a:ext cx="12902327" cy="3319939"/>
          </a:xfrm>
          <a:prstGeom prst="roundRect">
            <a:avLst>
              <a:gd name="adj" fmla="val 8347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037" y="3083427"/>
            <a:ext cx="128718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10853" y="323916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Sensor Noise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50587" y="3239161"/>
            <a:ext cx="59384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Implemented Multi-sampling (Arduino) &amp; Median Blurring (Python).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4037" y="4184993"/>
            <a:ext cx="128718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10853" y="434072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Room Geometry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50587" y="4340727"/>
            <a:ext cx="59384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Utilized Background Subtraction instead of fixed thresholds.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4037" y="5286560"/>
            <a:ext cx="128718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10853" y="544229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Blind Spots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0587" y="5442293"/>
            <a:ext cx="59384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Enabled 180° Tilt for "Over-the-Top" scanning, ensuring full 360° coverage.</a:t>
            </a:r>
            <a:endParaRPr lang="en-US" sz="1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82CB70-814F-D156-CC26-E14DBD6DE98B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17182" y="1865829"/>
            <a:ext cx="10181153" cy="522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Conclusion: Dimension-Independent Detection</a:t>
            </a:r>
            <a:endParaRPr lang="en-US" sz="2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150076" y="2500908"/>
            <a:ext cx="10639023" cy="770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The system successfully maps a 3D environment, intelligently filters out enclosure geometry, and accurately counts static targets regardless of their shape or size.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217182" y="3483055"/>
            <a:ext cx="5191958" cy="2404110"/>
          </a:xfrm>
          <a:prstGeom prst="roundRect">
            <a:avLst>
              <a:gd name="adj" fmla="val 11732"/>
            </a:avLst>
          </a:prstGeom>
          <a:solidFill>
            <a:srgbClr val="46464A"/>
          </a:solidFill>
          <a:ln/>
        </p:spPr>
      </p:sp>
      <p:sp>
        <p:nvSpPr>
          <p:cNvPr id="6" name="Shape 3"/>
          <p:cNvSpPr/>
          <p:nvPr/>
        </p:nvSpPr>
        <p:spPr>
          <a:xfrm>
            <a:off x="2405182" y="3671055"/>
            <a:ext cx="563999" cy="563999"/>
          </a:xfrm>
          <a:prstGeom prst="roundRect">
            <a:avLst>
              <a:gd name="adj" fmla="val 16211173"/>
            </a:avLst>
          </a:prstGeom>
          <a:solidFill>
            <a:srgbClr val="FFE14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0201" y="3826074"/>
            <a:ext cx="253841" cy="2538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05182" y="4423054"/>
            <a:ext cx="2089309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Key Achievement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405182" y="4796910"/>
            <a:ext cx="4815959" cy="90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Dimension-Independent Detection: Our system adapts to and performs reliably in any room shape, overcoming previous limitations.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597140" y="3483055"/>
            <a:ext cx="5191958" cy="2404110"/>
          </a:xfrm>
          <a:prstGeom prst="roundRect">
            <a:avLst>
              <a:gd name="adj" fmla="val 11732"/>
            </a:avLst>
          </a:prstGeom>
          <a:solidFill>
            <a:srgbClr val="46464A"/>
          </a:solidFill>
          <a:ln/>
        </p:spPr>
      </p:sp>
      <p:sp>
        <p:nvSpPr>
          <p:cNvPr id="11" name="Shape 7"/>
          <p:cNvSpPr/>
          <p:nvPr/>
        </p:nvSpPr>
        <p:spPr>
          <a:xfrm>
            <a:off x="7785140" y="3671055"/>
            <a:ext cx="563999" cy="563999"/>
          </a:xfrm>
          <a:prstGeom prst="roundRect">
            <a:avLst>
              <a:gd name="adj" fmla="val 16211173"/>
            </a:avLst>
          </a:prstGeom>
          <a:solidFill>
            <a:srgbClr val="FFE14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0159" y="3826074"/>
            <a:ext cx="253841" cy="2538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85140" y="4423054"/>
            <a:ext cx="2089309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Bahnschrift" panose="020B0502040204020203" pitchFamily="34" charset="0"/>
                <a:ea typeface="Comfortaa Bold" pitchFamily="34" charset="-122"/>
                <a:cs typeface="Comfortaa Bold" pitchFamily="34" charset="-120"/>
              </a:rPr>
              <a:t>Future Scope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785140" y="4796910"/>
            <a:ext cx="4815959" cy="90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Arial" panose="020B0604020202020204" pitchFamily="34" charset="0"/>
                <a:ea typeface="Raleway Medium" pitchFamily="34" charset="-122"/>
                <a:cs typeface="Arial" panose="020B0604020202020204" pitchFamily="34" charset="0"/>
              </a:rPr>
              <a:t>Exploring increased scan resolution or implementing a continuous "Lidar-style" spin for significantly faster data acquisition and real-time responsiveness.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1A52F1-A85D-A74D-D0BD-1BFFB6A15C38}"/>
              </a:ext>
            </a:extLst>
          </p:cNvPr>
          <p:cNvSpPr/>
          <p:nvPr/>
        </p:nvSpPr>
        <p:spPr>
          <a:xfrm>
            <a:off x="1" y="7363645"/>
            <a:ext cx="14643580" cy="836414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EA95C3-5AE4-F5F3-1192-83362F0896D3}"/>
              </a:ext>
            </a:extLst>
          </p:cNvPr>
          <p:cNvSpPr txBox="1"/>
          <p:nvPr/>
        </p:nvSpPr>
        <p:spPr>
          <a:xfrm>
            <a:off x="1828800" y="3377513"/>
            <a:ext cx="10066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EDD09-34B2-CA80-DED6-065780A11081}"/>
              </a:ext>
            </a:extLst>
          </p:cNvPr>
          <p:cNvSpPr/>
          <p:nvPr/>
        </p:nvSpPr>
        <p:spPr>
          <a:xfrm>
            <a:off x="12892216" y="0"/>
            <a:ext cx="1738184" cy="8229600"/>
          </a:xfrm>
          <a:prstGeom prst="rect">
            <a:avLst/>
          </a:prstGeom>
          <a:solidFill>
            <a:srgbClr val="FFE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88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805</Words>
  <Application>Microsoft Office PowerPoint</Application>
  <PresentationFormat>Custom</PresentationFormat>
  <Paragraphs>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Raleway Medium</vt:lpstr>
      <vt:lpstr>Arial</vt:lpstr>
      <vt:lpstr>Cascadia Code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Sabarish Rathnachalam</cp:lastModifiedBy>
  <cp:revision>4</cp:revision>
  <dcterms:created xsi:type="dcterms:W3CDTF">2026-01-25T00:52:26Z</dcterms:created>
  <dcterms:modified xsi:type="dcterms:W3CDTF">2026-01-25T08:43:08Z</dcterms:modified>
</cp:coreProperties>
</file>